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2"/>
  </p:normalViewPr>
  <p:slideViewPr>
    <p:cSldViewPr snapToGrid="0">
      <p:cViewPr varScale="1">
        <p:scale>
          <a:sx n="111" d="100"/>
          <a:sy n="111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A4F6731-AD14-419D-A9CB-706189DF76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2E93D1-F40D-4CCB-870A-7391B1DF4A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AA2DCB-94B7-4A9F-A8D4-8E65B15CE193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81915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Caerleon Skills Tracker: Teacher User Guide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632751-0808-403D-9018-32D37EA07315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Adding, editing and reviewing curriculum mapping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1C4739-4631-43A9-BEE4-AF42A2FC7D2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9F6381-810E-4677-8D1D-09573F0848A3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59D527-8149-44EE-B07D-0B708E85C124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4667250" cy="9525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E9EAF5-B17D-4F06-9005-51EBFE67F973}"/>
              </a:ext>
            </a:extLst>
          </p:cNvPr>
          <p:cNvSpPr>
            <a:spLocks noGrp="1"/>
          </p:cNvSpPr>
          <p:nvPr/>
        </p:nvSpPr>
        <p:spPr>
          <a:xfrm>
            <a:off x="6905625" y="1885950"/>
            <a:ext cx="2952750" cy="2952750"/>
          </a:xfrm>
          <a:prstGeom prst="rect">
            <a:avLst/>
          </a:prstGeom>
          <a:solidFill>
            <a:srgbClr val="000000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30C3C-78EF-4041-B5A9-B3998AAA4BA9}"/>
              </a:ext>
            </a:extLst>
          </p:cNvPr>
          <p:cNvSpPr>
            <a:spLocks noGrp="1"/>
          </p:cNvSpPr>
          <p:nvPr/>
        </p:nvSpPr>
        <p:spPr>
          <a:xfrm>
            <a:off x="6858000" y="1828800"/>
            <a:ext cx="2952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81875" y="2247900"/>
            <a:ext cx="1905000" cy="1905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6354216-9F49-458C-8C0A-B22791C9E1E0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571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For teachers and subject leads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6F3239-4266-49B2-BDC8-C815503FAE82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6096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Use this guide when recording curriculum work, maintaining framework references and checking subject coverage.</a:t>
            </a:r>
          </a:p>
        </p:txBody>
      </p:sp>
    </p:spTree>
    <p:extLst>
      <p:ext uri="{BB962C8B-B14F-4D97-AF65-F5344CB8AC3E}">
        <p14:creationId xmlns:p14="http://schemas.microsoft.com/office/powerpoint/2010/main" val="115466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3DAEA46B-F6BB-4E74-8DF0-68DC39505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140643-A23A-4A08-BE56-E7A6DC9A4A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839039-2B7F-4CF5-9BF2-A5246E35E63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GUIDE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DA1D4E-5612-44E3-94CA-A41C57F2F32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this guide covers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D4B1A9-8A04-48AC-8EEB-6B64A0AA4481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Three practical workflows for keeping curriculum mapping clear, current and useful.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5FF4142-E6F2-44FE-BADF-3F7978068DF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F691C-2A6E-44F8-A1FD-E4B6F1C4B1EB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C1D889-507E-4EE1-A5CE-226508D5736E}"/>
              </a:ext>
            </a:extLst>
          </p:cNvPr>
          <p:cNvSpPr>
            <a:spLocks noGrp="1"/>
          </p:cNvSpPr>
          <p:nvPr/>
        </p:nvSpPr>
        <p:spPr>
          <a:xfrm>
            <a:off x="790575" y="2514600"/>
            <a:ext cx="3333750" cy="2762250"/>
          </a:xfrm>
          <a:prstGeom prst="rect">
            <a:avLst/>
          </a:prstGeom>
          <a:solidFill>
            <a:srgbClr val="000000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D2027F-A15E-431B-9DE0-16E777281D00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33337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102E75-FC7A-4195-8665-918F72E0A4A5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287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Add Curriculum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302EF3-DBD6-4587-AE10-2D501158DB88}"/>
              </a:ext>
            </a:extLst>
          </p:cNvPr>
          <p:cNvSpPr>
            <a:spLocks noGrp="1"/>
          </p:cNvSpPr>
          <p:nvPr/>
        </p:nvSpPr>
        <p:spPr>
          <a:xfrm>
            <a:off x="990600" y="3200400"/>
            <a:ext cx="228600" cy="2286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70FE29-CDD4-4B02-BC12-227E53C0AA63}"/>
              </a:ext>
            </a:extLst>
          </p:cNvPr>
          <p:cNvSpPr>
            <a:spLocks noGrp="1"/>
          </p:cNvSpPr>
          <p:nvPr/>
        </p:nvSpPr>
        <p:spPr>
          <a:xfrm>
            <a:off x="990600" y="31908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D13B8-7451-4B64-BCCA-185010EFF5CD}"/>
              </a:ext>
            </a:extLst>
          </p:cNvPr>
          <p:cNvSpPr>
            <a:spLocks noGrp="1"/>
          </p:cNvSpPr>
          <p:nvPr/>
        </p:nvSpPr>
        <p:spPr>
          <a:xfrm>
            <a:off x="1333500" y="31813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Create a curriculum entry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057039-C14A-4F2F-8C7E-1C0E8F6A34AF}"/>
              </a:ext>
            </a:extLst>
          </p:cNvPr>
          <p:cNvSpPr>
            <a:spLocks noGrp="1"/>
          </p:cNvSpPr>
          <p:nvPr/>
        </p:nvSpPr>
        <p:spPr>
          <a:xfrm>
            <a:off x="990600" y="3600450"/>
            <a:ext cx="228600" cy="2286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50595D-C8B3-4D95-8A68-C185823DE183}"/>
              </a:ext>
            </a:extLst>
          </p:cNvPr>
          <p:cNvSpPr>
            <a:spLocks noGrp="1"/>
          </p:cNvSpPr>
          <p:nvPr/>
        </p:nvSpPr>
        <p:spPr>
          <a:xfrm>
            <a:off x="990600" y="35909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032446-9FDE-4606-8203-ADCA047C9C52}"/>
              </a:ext>
            </a:extLst>
          </p:cNvPr>
          <p:cNvSpPr>
            <a:spLocks noGrp="1"/>
          </p:cNvSpPr>
          <p:nvPr/>
        </p:nvSpPr>
        <p:spPr>
          <a:xfrm>
            <a:off x="1333500" y="35814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Add Literacy, Numeracy and DCF links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B22C29-4098-4F7D-8907-FCAEC9735008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228600" cy="2286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3C9235-DC8A-4ED1-9B2F-C05167BC112F}"/>
              </a:ext>
            </a:extLst>
          </p:cNvPr>
          <p:cNvSpPr>
            <a:spLocks noGrp="1"/>
          </p:cNvSpPr>
          <p:nvPr/>
        </p:nvSpPr>
        <p:spPr>
          <a:xfrm>
            <a:off x="990600" y="39909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183D7C-0776-4A9A-96B7-5F0127CBED31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Record theme evidence where relevant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7FF017-C35E-453C-8D1E-DFB6BA9624A5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228600" cy="2286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737FC3-4671-4208-A820-40F27D1475F5}"/>
              </a:ext>
            </a:extLst>
          </p:cNvPr>
          <p:cNvSpPr>
            <a:spLocks noGrp="1"/>
          </p:cNvSpPr>
          <p:nvPr/>
        </p:nvSpPr>
        <p:spPr>
          <a:xfrm>
            <a:off x="990600" y="4391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D7F778-58A7-4486-AEEB-5E11573A955A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Save the mapping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FA6757-6EE2-4315-8353-17F8636F9694}"/>
              </a:ext>
            </a:extLst>
          </p:cNvPr>
          <p:cNvSpPr>
            <a:spLocks noGrp="1"/>
          </p:cNvSpPr>
          <p:nvPr/>
        </p:nvSpPr>
        <p:spPr>
          <a:xfrm>
            <a:off x="4476750" y="2514600"/>
            <a:ext cx="3333750" cy="2762250"/>
          </a:xfrm>
          <a:prstGeom prst="rect">
            <a:avLst/>
          </a:prstGeom>
          <a:solidFill>
            <a:srgbClr val="000000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024901-99B4-4012-9B2C-7D64FEDEA71E}"/>
              </a:ext>
            </a:extLst>
          </p:cNvPr>
          <p:cNvSpPr>
            <a:spLocks noGrp="1"/>
          </p:cNvSpPr>
          <p:nvPr/>
        </p:nvSpPr>
        <p:spPr>
          <a:xfrm>
            <a:off x="4429125" y="2457450"/>
            <a:ext cx="33337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7A292F-13BC-4E62-9177-85740A021349}"/>
              </a:ext>
            </a:extLst>
          </p:cNvPr>
          <p:cNvSpPr>
            <a:spLocks noGrp="1"/>
          </p:cNvSpPr>
          <p:nvPr/>
        </p:nvSpPr>
        <p:spPr>
          <a:xfrm>
            <a:off x="4657725" y="2686050"/>
            <a:ext cx="287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8B5A7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B5A72"/>
                </a:solidFill>
                <a:latin typeface="Aptos"/>
                <a:ea typeface="Aptos"/>
                <a:cs typeface="Aptos"/>
              </a:rPr>
              <a:t>Edit Curriculum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6B57ED-53A5-4702-AC32-BC830B6454A7}"/>
              </a:ext>
            </a:extLst>
          </p:cNvPr>
          <p:cNvSpPr>
            <a:spLocks noGrp="1"/>
          </p:cNvSpPr>
          <p:nvPr/>
        </p:nvSpPr>
        <p:spPr>
          <a:xfrm>
            <a:off x="4676775" y="3200400"/>
            <a:ext cx="228600" cy="228600"/>
          </a:xfrm>
          <a:prstGeom prst="rect">
            <a:avLst/>
          </a:prstGeom>
          <a:solidFill>
            <a:srgbClr val="8B5A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2B65F6-2EC6-46BB-B62C-26139CB822A6}"/>
              </a:ext>
            </a:extLst>
          </p:cNvPr>
          <p:cNvSpPr>
            <a:spLocks noGrp="1"/>
          </p:cNvSpPr>
          <p:nvPr/>
        </p:nvSpPr>
        <p:spPr>
          <a:xfrm>
            <a:off x="4676775" y="31908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FA6DFA-5F07-4DDA-BF1F-9B3E22D984DA}"/>
              </a:ext>
            </a:extLst>
          </p:cNvPr>
          <p:cNvSpPr>
            <a:spLocks noGrp="1"/>
          </p:cNvSpPr>
          <p:nvPr/>
        </p:nvSpPr>
        <p:spPr>
          <a:xfrm>
            <a:off x="5019675" y="31813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Browse by subject and year group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E541DA-0C6A-4DB3-8744-6AAD6B59C812}"/>
              </a:ext>
            </a:extLst>
          </p:cNvPr>
          <p:cNvSpPr>
            <a:spLocks noGrp="1"/>
          </p:cNvSpPr>
          <p:nvPr/>
        </p:nvSpPr>
        <p:spPr>
          <a:xfrm>
            <a:off x="4676775" y="3600450"/>
            <a:ext cx="228600" cy="228600"/>
          </a:xfrm>
          <a:prstGeom prst="rect">
            <a:avLst/>
          </a:prstGeom>
          <a:solidFill>
            <a:srgbClr val="8B5A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25936C-38AC-4636-9F56-9260E1B006A9}"/>
              </a:ext>
            </a:extLst>
          </p:cNvPr>
          <p:cNvSpPr>
            <a:spLocks noGrp="1"/>
          </p:cNvSpPr>
          <p:nvPr/>
        </p:nvSpPr>
        <p:spPr>
          <a:xfrm>
            <a:off x="4676775" y="35909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CD1F85-45F3-4112-8D02-97E778AC4E17}"/>
              </a:ext>
            </a:extLst>
          </p:cNvPr>
          <p:cNvSpPr>
            <a:spLocks noGrp="1"/>
          </p:cNvSpPr>
          <p:nvPr/>
        </p:nvSpPr>
        <p:spPr>
          <a:xfrm>
            <a:off x="5019675" y="35814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Find the scheme or activity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1E2138-AFA9-4DD3-BF3F-26D8B2BB8298}"/>
              </a:ext>
            </a:extLst>
          </p:cNvPr>
          <p:cNvSpPr>
            <a:spLocks noGrp="1"/>
          </p:cNvSpPr>
          <p:nvPr/>
        </p:nvSpPr>
        <p:spPr>
          <a:xfrm>
            <a:off x="4676775" y="4000500"/>
            <a:ext cx="228600" cy="228600"/>
          </a:xfrm>
          <a:prstGeom prst="rect">
            <a:avLst/>
          </a:prstGeom>
          <a:solidFill>
            <a:srgbClr val="8B5A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2A2CA2-61AD-4FE7-9534-236472985D43}"/>
              </a:ext>
            </a:extLst>
          </p:cNvPr>
          <p:cNvSpPr>
            <a:spLocks noGrp="1"/>
          </p:cNvSpPr>
          <p:nvPr/>
        </p:nvSpPr>
        <p:spPr>
          <a:xfrm>
            <a:off x="4676775" y="39909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F2541FF-3452-4409-B785-B883AA06C0E7}"/>
              </a:ext>
            </a:extLst>
          </p:cNvPr>
          <p:cNvSpPr>
            <a:spLocks noGrp="1"/>
          </p:cNvSpPr>
          <p:nvPr/>
        </p:nvSpPr>
        <p:spPr>
          <a:xfrm>
            <a:off x="5019675" y="39814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Amend details or references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EADE26-6109-487F-B077-483A173AB9BC}"/>
              </a:ext>
            </a:extLst>
          </p:cNvPr>
          <p:cNvSpPr>
            <a:spLocks noGrp="1"/>
          </p:cNvSpPr>
          <p:nvPr/>
        </p:nvSpPr>
        <p:spPr>
          <a:xfrm>
            <a:off x="4676775" y="4400550"/>
            <a:ext cx="228600" cy="228600"/>
          </a:xfrm>
          <a:prstGeom prst="rect">
            <a:avLst/>
          </a:prstGeom>
          <a:solidFill>
            <a:srgbClr val="8B5A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F2AA65-8E58-4E94-9274-078597FB7198}"/>
              </a:ext>
            </a:extLst>
          </p:cNvPr>
          <p:cNvSpPr>
            <a:spLocks noGrp="1"/>
          </p:cNvSpPr>
          <p:nvPr/>
        </p:nvSpPr>
        <p:spPr>
          <a:xfrm>
            <a:off x="4676775" y="4391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A7843D-662A-4A7A-9054-929B29FAC9A8}"/>
              </a:ext>
            </a:extLst>
          </p:cNvPr>
          <p:cNvSpPr>
            <a:spLocks noGrp="1"/>
          </p:cNvSpPr>
          <p:nvPr/>
        </p:nvSpPr>
        <p:spPr>
          <a:xfrm>
            <a:off x="5019675" y="43815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Save changes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D44AC94-63A5-47E4-906F-B6EF24133031}"/>
              </a:ext>
            </a:extLst>
          </p:cNvPr>
          <p:cNvSpPr>
            <a:spLocks noGrp="1"/>
          </p:cNvSpPr>
          <p:nvPr/>
        </p:nvSpPr>
        <p:spPr>
          <a:xfrm>
            <a:off x="8162925" y="2514600"/>
            <a:ext cx="3333750" cy="2762250"/>
          </a:xfrm>
          <a:prstGeom prst="rect">
            <a:avLst/>
          </a:prstGeom>
          <a:solidFill>
            <a:srgbClr val="000000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7C5D32-1B43-4591-9368-F340FBDF904B}"/>
              </a:ext>
            </a:extLst>
          </p:cNvPr>
          <p:cNvSpPr>
            <a:spLocks noGrp="1"/>
          </p:cNvSpPr>
          <p:nvPr/>
        </p:nvSpPr>
        <p:spPr>
          <a:xfrm>
            <a:off x="8115300" y="2457450"/>
            <a:ext cx="33337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0F517D-D4E8-4B83-8291-23A68B8DDAA4}"/>
              </a:ext>
            </a:extLst>
          </p:cNvPr>
          <p:cNvSpPr>
            <a:spLocks noGrp="1"/>
          </p:cNvSpPr>
          <p:nvPr/>
        </p:nvSpPr>
        <p:spPr>
          <a:xfrm>
            <a:off x="8343900" y="2686050"/>
            <a:ext cx="287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15F5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15F55"/>
                </a:solidFill>
                <a:latin typeface="Aptos"/>
                <a:ea typeface="Aptos"/>
                <a:cs typeface="Aptos"/>
              </a:rPr>
              <a:t>View Subject Health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A10CFD-02B7-4624-980E-7DCEBDCEDCEB}"/>
              </a:ext>
            </a:extLst>
          </p:cNvPr>
          <p:cNvSpPr>
            <a:spLocks noGrp="1"/>
          </p:cNvSpPr>
          <p:nvPr/>
        </p:nvSpPr>
        <p:spPr>
          <a:xfrm>
            <a:off x="8362950" y="3200400"/>
            <a:ext cx="228600" cy="228600"/>
          </a:xfrm>
          <a:prstGeom prst="rect">
            <a:avLst/>
          </a:prstGeom>
          <a:solidFill>
            <a:srgbClr val="315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AF05A3-A058-4140-8547-33059E615994}"/>
              </a:ext>
            </a:extLst>
          </p:cNvPr>
          <p:cNvSpPr>
            <a:spLocks noGrp="1"/>
          </p:cNvSpPr>
          <p:nvPr/>
        </p:nvSpPr>
        <p:spPr>
          <a:xfrm>
            <a:off x="8362950" y="31908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54F0258-25CD-4B6B-90E3-48F04DF43706}"/>
              </a:ext>
            </a:extLst>
          </p:cNvPr>
          <p:cNvSpPr>
            <a:spLocks noGrp="1"/>
          </p:cNvSpPr>
          <p:nvPr/>
        </p:nvSpPr>
        <p:spPr>
          <a:xfrm>
            <a:off x="8705850" y="31813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Review mapped schemes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4F17A2-E1DA-4782-95C3-13D37EB01388}"/>
              </a:ext>
            </a:extLst>
          </p:cNvPr>
          <p:cNvSpPr>
            <a:spLocks noGrp="1"/>
          </p:cNvSpPr>
          <p:nvPr/>
        </p:nvSpPr>
        <p:spPr>
          <a:xfrm>
            <a:off x="8362950" y="3600450"/>
            <a:ext cx="228600" cy="228600"/>
          </a:xfrm>
          <a:prstGeom prst="rect">
            <a:avLst/>
          </a:prstGeom>
          <a:solidFill>
            <a:srgbClr val="315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9FC683-1DE1-48D9-9C42-F0DCC1AD72BC}"/>
              </a:ext>
            </a:extLst>
          </p:cNvPr>
          <p:cNvSpPr>
            <a:spLocks noGrp="1"/>
          </p:cNvSpPr>
          <p:nvPr/>
        </p:nvSpPr>
        <p:spPr>
          <a:xfrm>
            <a:off x="8362950" y="35909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EB84F55-738E-4E41-92F5-E1233FFA7825}"/>
              </a:ext>
            </a:extLst>
          </p:cNvPr>
          <p:cNvSpPr>
            <a:spLocks noGrp="1"/>
          </p:cNvSpPr>
          <p:nvPr/>
        </p:nvSpPr>
        <p:spPr>
          <a:xfrm>
            <a:off x="8705850" y="35814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Check skills and theme coverage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3709799-9259-4FBD-B5F4-A7102A4C27A3}"/>
              </a:ext>
            </a:extLst>
          </p:cNvPr>
          <p:cNvSpPr>
            <a:spLocks noGrp="1"/>
          </p:cNvSpPr>
          <p:nvPr/>
        </p:nvSpPr>
        <p:spPr>
          <a:xfrm>
            <a:off x="8362950" y="4000500"/>
            <a:ext cx="228600" cy="228600"/>
          </a:xfrm>
          <a:prstGeom prst="rect">
            <a:avLst/>
          </a:prstGeom>
          <a:solidFill>
            <a:srgbClr val="315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63870D-4C3E-4ACA-BA7B-ACDD8875AE0E}"/>
              </a:ext>
            </a:extLst>
          </p:cNvPr>
          <p:cNvSpPr>
            <a:spLocks noGrp="1"/>
          </p:cNvSpPr>
          <p:nvPr/>
        </p:nvSpPr>
        <p:spPr>
          <a:xfrm>
            <a:off x="8362950" y="39909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689E3C8-7155-482C-83BA-99F8EF6F3115}"/>
              </a:ext>
            </a:extLst>
          </p:cNvPr>
          <p:cNvSpPr>
            <a:spLocks noGrp="1"/>
          </p:cNvSpPr>
          <p:nvPr/>
        </p:nvSpPr>
        <p:spPr>
          <a:xfrm>
            <a:off x="8705850" y="39814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Spot gaps quickly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5DBD622-BEFF-43FF-B4B6-DD51700CCF77}"/>
              </a:ext>
            </a:extLst>
          </p:cNvPr>
          <p:cNvSpPr>
            <a:spLocks noGrp="1"/>
          </p:cNvSpPr>
          <p:nvPr/>
        </p:nvSpPr>
        <p:spPr>
          <a:xfrm>
            <a:off x="8362950" y="4400550"/>
            <a:ext cx="228600" cy="228600"/>
          </a:xfrm>
          <a:prstGeom prst="rect">
            <a:avLst/>
          </a:prstGeom>
          <a:solidFill>
            <a:srgbClr val="315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0137517-4902-4D7F-BFED-28DF45DB1F9F}"/>
              </a:ext>
            </a:extLst>
          </p:cNvPr>
          <p:cNvSpPr>
            <a:spLocks noGrp="1"/>
          </p:cNvSpPr>
          <p:nvPr/>
        </p:nvSpPr>
        <p:spPr>
          <a:xfrm>
            <a:off x="8362950" y="4391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EBFFF52-4FEA-4804-92A1-F9F893C6FD61}"/>
              </a:ext>
            </a:extLst>
          </p:cNvPr>
          <p:cNvSpPr>
            <a:spLocks noGrp="1"/>
          </p:cNvSpPr>
          <p:nvPr/>
        </p:nvSpPr>
        <p:spPr>
          <a:xfrm>
            <a:off x="8705850" y="43815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Open items needing improvement</a:t>
            </a:r>
          </a:p>
        </p:txBody>
      </p:sp>
    </p:spTree>
    <p:extLst>
      <p:ext uri="{BB962C8B-B14F-4D97-AF65-F5344CB8AC3E}">
        <p14:creationId xmlns:p14="http://schemas.microsoft.com/office/powerpoint/2010/main" val="69771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A4B1C47-CB81-4D13-89C8-07E8C36ADB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BDEF8D-2C99-431F-9917-432FED6F12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8AE47-F7BE-42A8-879F-9ABF52A348A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ADD CURRICULUM ENTRY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61D964-CAB8-4A30-86CB-17BB8446E75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the Add Curriculum page is for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C8AFBF-2171-4AE1-AF6A-0EAD1B94F363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Use it to make a visible record of curriculum work and the skills it develops.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A8B55D-D9F1-408D-A7C0-B7D2C87A895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F5F93E-062D-4CC4-9020-058F196C1CF1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26C8E1-B58C-431D-89EF-5359787F0173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4610100" cy="339090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46BA85-3E97-4466-991F-18E87B905695}"/>
              </a:ext>
            </a:extLst>
          </p:cNvPr>
          <p:cNvSpPr>
            <a:spLocks noGrp="1"/>
          </p:cNvSpPr>
          <p:nvPr/>
        </p:nvSpPr>
        <p:spPr>
          <a:xfrm>
            <a:off x="6115050" y="1695450"/>
            <a:ext cx="4610100" cy="3390900"/>
          </a:xfrm>
          <a:prstGeom prst="rect">
            <a:avLst/>
          </a:prstGeom>
          <a:solidFill>
            <a:srgbClr val="FFFFFF"/>
          </a:solidFill>
          <a:ln w="13335">
            <a:solidFill>
              <a:srgbClr val="7A1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9350" y="2037403"/>
            <a:ext cx="4381500" cy="270699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7EA06E-BAD5-4389-97D9-A604D7B84012}"/>
              </a:ext>
            </a:extLst>
          </p:cNvPr>
          <p:cNvSpPr>
            <a:spLocks noGrp="1"/>
          </p:cNvSpPr>
          <p:nvPr/>
        </p:nvSpPr>
        <p:spPr>
          <a:xfrm>
            <a:off x="790575" y="2171700"/>
            <a:ext cx="4819650" cy="1104900"/>
          </a:xfrm>
          <a:prstGeom prst="rect">
            <a:avLst/>
          </a:prstGeom>
          <a:solidFill>
            <a:srgbClr val="000000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BF705E-35FE-4E8F-B604-5475460D177D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8196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DB9112-0B7A-4B53-A16E-3B8AACA4E27F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438150" cy="43815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41424E-A871-4514-9240-B2B31BF62DBD}"/>
              </a:ext>
            </a:extLst>
          </p:cNvPr>
          <p:cNvSpPr>
            <a:spLocks noGrp="1"/>
          </p:cNvSpPr>
          <p:nvPr/>
        </p:nvSpPr>
        <p:spPr>
          <a:xfrm>
            <a:off x="914400" y="2409825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3445AA-6A72-459E-A6F1-5F2CA4893DF5}"/>
              </a:ext>
            </a:extLst>
          </p:cNvPr>
          <p:cNvSpPr>
            <a:spLocks noGrp="1"/>
          </p:cNvSpPr>
          <p:nvPr/>
        </p:nvSpPr>
        <p:spPr>
          <a:xfrm>
            <a:off x="1543050" y="2305050"/>
            <a:ext cx="3829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Record the piece of 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408F19-4A09-4E11-920B-6F6A3597A28A}"/>
              </a:ext>
            </a:extLst>
          </p:cNvPr>
          <p:cNvSpPr>
            <a:spLocks noGrp="1"/>
          </p:cNvSpPr>
          <p:nvPr/>
        </p:nvSpPr>
        <p:spPr>
          <a:xfrm>
            <a:off x="1543050" y="2628900"/>
            <a:ext cx="3829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Choose subject, year group, term and the activity or scheme reference.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8EA9CA-1D1B-4E99-AA6A-52FCB088C239}"/>
              </a:ext>
            </a:extLst>
          </p:cNvPr>
          <p:cNvSpPr>
            <a:spLocks noGrp="1"/>
          </p:cNvSpPr>
          <p:nvPr/>
        </p:nvSpPr>
        <p:spPr>
          <a:xfrm>
            <a:off x="790575" y="3448050"/>
            <a:ext cx="4819650" cy="1104900"/>
          </a:xfrm>
          <a:prstGeom prst="rect">
            <a:avLst/>
          </a:prstGeom>
          <a:solidFill>
            <a:srgbClr val="000000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37C171-3939-45DE-A511-4B7F48DA1AC3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48196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58714A-0E28-471A-875B-ADE1CA86B367}"/>
              </a:ext>
            </a:extLst>
          </p:cNvPr>
          <p:cNvSpPr>
            <a:spLocks noGrp="1"/>
          </p:cNvSpPr>
          <p:nvPr/>
        </p:nvSpPr>
        <p:spPr>
          <a:xfrm>
            <a:off x="914400" y="3600450"/>
            <a:ext cx="438150" cy="43815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BEFA23-EF2B-4D47-BF34-DE09F39A1A69}"/>
              </a:ext>
            </a:extLst>
          </p:cNvPr>
          <p:cNvSpPr>
            <a:spLocks noGrp="1"/>
          </p:cNvSpPr>
          <p:nvPr/>
        </p:nvSpPr>
        <p:spPr>
          <a:xfrm>
            <a:off x="914400" y="3686175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D699FC-580F-46B1-B05F-647F532A17D9}"/>
              </a:ext>
            </a:extLst>
          </p:cNvPr>
          <p:cNvSpPr>
            <a:spLocks noGrp="1"/>
          </p:cNvSpPr>
          <p:nvPr/>
        </p:nvSpPr>
        <p:spPr>
          <a:xfrm>
            <a:off x="1543050" y="3581400"/>
            <a:ext cx="3829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Map the frameworks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C5BBE1-430E-4760-AB21-55AC36CA6612}"/>
              </a:ext>
            </a:extLst>
          </p:cNvPr>
          <p:cNvSpPr>
            <a:spLocks noGrp="1"/>
          </p:cNvSpPr>
          <p:nvPr/>
        </p:nvSpPr>
        <p:spPr>
          <a:xfrm>
            <a:off x="1543050" y="3905250"/>
            <a:ext cx="3829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Add the Literacy, Numeracy or DCF references that genuinely apply.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3B2657-776E-49DA-A9F3-B0787896A5B6}"/>
              </a:ext>
            </a:extLst>
          </p:cNvPr>
          <p:cNvSpPr>
            <a:spLocks noGrp="1"/>
          </p:cNvSpPr>
          <p:nvPr/>
        </p:nvSpPr>
        <p:spPr>
          <a:xfrm>
            <a:off x="790575" y="4724400"/>
            <a:ext cx="4819650" cy="1104900"/>
          </a:xfrm>
          <a:prstGeom prst="rect">
            <a:avLst/>
          </a:prstGeom>
          <a:solidFill>
            <a:srgbClr val="000000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A1494E-A1B6-4C0F-8D50-A14FB86EC41C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48196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3BC919-DBAD-4F97-AD9B-4E39CEFDE73E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438150" cy="43815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EB14A-7D74-4300-B693-E280A10F8096}"/>
              </a:ext>
            </a:extLst>
          </p:cNvPr>
          <p:cNvSpPr>
            <a:spLocks noGrp="1"/>
          </p:cNvSpPr>
          <p:nvPr/>
        </p:nvSpPr>
        <p:spPr>
          <a:xfrm>
            <a:off x="914400" y="4962525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131351-D180-429B-A774-0C8F2763FAA7}"/>
              </a:ext>
            </a:extLst>
          </p:cNvPr>
          <p:cNvSpPr>
            <a:spLocks noGrp="1"/>
          </p:cNvSpPr>
          <p:nvPr/>
        </p:nvSpPr>
        <p:spPr>
          <a:xfrm>
            <a:off x="1543050" y="4857750"/>
            <a:ext cx="3829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Save useful evidence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8CA382-8DFB-4C6F-8166-011EC5B82032}"/>
              </a:ext>
            </a:extLst>
          </p:cNvPr>
          <p:cNvSpPr>
            <a:spLocks noGrp="1"/>
          </p:cNvSpPr>
          <p:nvPr/>
        </p:nvSpPr>
        <p:spPr>
          <a:xfrm>
            <a:off x="1543050" y="5181600"/>
            <a:ext cx="3829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Add optional theme evidence and notes, then save for curriculum visibility.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409A89-D1BA-43C3-A16C-E0DD37F19A33}"/>
              </a:ext>
            </a:extLst>
          </p:cNvPr>
          <p:cNvSpPr>
            <a:spLocks noGrp="1"/>
          </p:cNvSpPr>
          <p:nvPr/>
        </p:nvSpPr>
        <p:spPr>
          <a:xfrm>
            <a:off x="6305550" y="5295900"/>
            <a:ext cx="4476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Keep entries specific enough to review later</a:t>
            </a:r>
          </a:p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Map evidence that is actually taught or practised</a:t>
            </a:r>
          </a:p>
        </p:txBody>
      </p:sp>
    </p:spTree>
    <p:extLst>
      <p:ext uri="{BB962C8B-B14F-4D97-AF65-F5344CB8AC3E}">
        <p14:creationId xmlns:p14="http://schemas.microsoft.com/office/powerpoint/2010/main" val="1558083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40E0A81-92BA-436C-8D68-E622A0F97E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608BAE-F7EB-4D30-879C-2774C876B7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AFDCA2-03F3-4C4B-91E1-B2440DAC7A2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ADD CURRICULUM ENTRY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5CCEF4-5B34-44D4-A23B-C706F8006D8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Step 1 and 2 - Curriculum details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57FB10-6F09-497E-9C35-1BA834F279E2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Start by describing where the work sits in the curriculum.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A8BDF85-9FED-47EF-B681-A2C0948E79C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A6E2A-1446-423D-AE48-E4538D188E3E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F23E51-384A-45A4-9322-3DD98EEE31C9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6838950" cy="384810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640F8B-A621-49B6-82FA-8A0B7DAEEFCA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6838950" cy="3848100"/>
          </a:xfrm>
          <a:prstGeom prst="rect">
            <a:avLst/>
          </a:prstGeom>
          <a:solidFill>
            <a:srgbClr val="FFFFFF"/>
          </a:solidFill>
          <a:ln w="13335">
            <a:solidFill>
              <a:srgbClr val="7A1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2000" y="2000250"/>
            <a:ext cx="6557466" cy="3619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ADDB61-5B8E-43A5-8A18-4EC2280321CA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3333750" cy="514350"/>
          </a:xfrm>
          <a:prstGeom prst="rect">
            <a:avLst/>
          </a:prstGeom>
          <a:solidFill>
            <a:srgbClr val="F8F1F5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8C5A07-3B98-42F5-9C26-F882DCBC762A}"/>
              </a:ext>
            </a:extLst>
          </p:cNvPr>
          <p:cNvSpPr>
            <a:spLocks noGrp="1"/>
          </p:cNvSpPr>
          <p:nvPr/>
        </p:nvSpPr>
        <p:spPr>
          <a:xfrm>
            <a:off x="8058150" y="2209800"/>
            <a:ext cx="3028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Choose the subject, year group and term.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1B0A5D-736E-47CE-A1C9-0E788C62A6B0}"/>
              </a:ext>
            </a:extLst>
          </p:cNvPr>
          <p:cNvSpPr>
            <a:spLocks noGrp="1"/>
          </p:cNvSpPr>
          <p:nvPr/>
        </p:nvSpPr>
        <p:spPr>
          <a:xfrm>
            <a:off x="7905750" y="2990850"/>
            <a:ext cx="333375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C403FB-62F8-4F3F-8329-513CD3AED64C}"/>
              </a:ext>
            </a:extLst>
          </p:cNvPr>
          <p:cNvSpPr>
            <a:spLocks noGrp="1"/>
          </p:cNvSpPr>
          <p:nvPr/>
        </p:nvSpPr>
        <p:spPr>
          <a:xfrm>
            <a:off x="8058150" y="3105150"/>
            <a:ext cx="3028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Use scheme references such as 7.1 or CT7.3.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9A2B0E-6F51-4A19-99C5-9502CACD1367}"/>
              </a:ext>
            </a:extLst>
          </p:cNvPr>
          <p:cNvSpPr>
            <a:spLocks noGrp="1"/>
          </p:cNvSpPr>
          <p:nvPr/>
        </p:nvSpPr>
        <p:spPr>
          <a:xfrm>
            <a:off x="7905750" y="3886200"/>
            <a:ext cx="333375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D847AB-4C8B-4CDE-A34B-6EDAB2A6708C}"/>
              </a:ext>
            </a:extLst>
          </p:cNvPr>
          <p:cNvSpPr>
            <a:spLocks noGrp="1"/>
          </p:cNvSpPr>
          <p:nvPr/>
        </p:nvSpPr>
        <p:spPr>
          <a:xfrm>
            <a:off x="8058150" y="4000500"/>
            <a:ext cx="3028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Give the activity a clear title.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7760E6-DB19-4C1D-B14E-59CF04FFEE4C}"/>
              </a:ext>
            </a:extLst>
          </p:cNvPr>
          <p:cNvSpPr>
            <a:spLocks noGrp="1"/>
          </p:cNvSpPr>
          <p:nvPr/>
        </p:nvSpPr>
        <p:spPr>
          <a:xfrm>
            <a:off x="7905750" y="4781550"/>
            <a:ext cx="333375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9620DB-F994-49F1-852B-0402561B7225}"/>
              </a:ext>
            </a:extLst>
          </p:cNvPr>
          <p:cNvSpPr>
            <a:spLocks noGrp="1"/>
          </p:cNvSpPr>
          <p:nvPr/>
        </p:nvSpPr>
        <p:spPr>
          <a:xfrm>
            <a:off x="8058150" y="4895850"/>
            <a:ext cx="3028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Keep descriptions concise but meaningful.</a:t>
            </a:r>
          </a:p>
        </p:txBody>
      </p:sp>
    </p:spTree>
    <p:extLst>
      <p:ext uri="{BB962C8B-B14F-4D97-AF65-F5344CB8AC3E}">
        <p14:creationId xmlns:p14="http://schemas.microsoft.com/office/powerpoint/2010/main" val="486783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D0FA902-83E0-4976-9286-CB2985F641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060E8F-BAB6-406F-9A4A-9E910C2C9B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3B1BF3-60B6-459C-9371-EF6C684063E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ADD CURRICULUM ENTRY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4193B2-6F02-4360-841F-1892AC27C36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Step 3 - Add framework references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90EAE-2B8F-4019-A89D-14D225BD0DA5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Select the framework, strand and element that match the work being taught.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04CCDF-8D43-4815-A586-974776DA4B4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2796BD-165C-4C05-947C-2B3748399560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F60C26-894C-4AEE-B539-8B7211B38380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314950" cy="356235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F18D40-901D-4F6B-BC23-3AFF4BFB606A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314950" cy="3562350"/>
          </a:xfrm>
          <a:prstGeom prst="rect">
            <a:avLst/>
          </a:prstGeom>
          <a:solidFill>
            <a:srgbClr val="FFFFFF"/>
          </a:solidFill>
          <a:ln w="1333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" y="2232134"/>
            <a:ext cx="5086350" cy="309858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AF059B5-373D-4BBA-B38F-0312F9D46420}"/>
              </a:ext>
            </a:extLst>
          </p:cNvPr>
          <p:cNvSpPr>
            <a:spLocks noGrp="1"/>
          </p:cNvSpPr>
          <p:nvPr/>
        </p:nvSpPr>
        <p:spPr>
          <a:xfrm>
            <a:off x="6267450" y="2095500"/>
            <a:ext cx="4267200" cy="356235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15A4CD-34D1-4930-9EBF-4B0422800295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4267200" cy="3562350"/>
          </a:xfrm>
          <a:prstGeom prst="rect">
            <a:avLst/>
          </a:prstGeom>
          <a:solidFill>
            <a:srgbClr val="FFFFFF"/>
          </a:solidFill>
          <a:ln w="1333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05550" y="2550614"/>
            <a:ext cx="4038600" cy="246162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2CC835F-AD40-459F-A2AD-0AF9E4CDA15F}"/>
              </a:ext>
            </a:extLst>
          </p:cNvPr>
          <p:cNvSpPr>
            <a:spLocks noGrp="1"/>
          </p:cNvSpPr>
          <p:nvPr/>
        </p:nvSpPr>
        <p:spPr>
          <a:xfrm>
            <a:off x="838200" y="5657850"/>
            <a:ext cx="1676400" cy="419100"/>
          </a:xfrm>
          <a:prstGeom prst="rect">
            <a:avLst/>
          </a:prstGeom>
          <a:solidFill>
            <a:srgbClr val="DBEAFE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76B203-D019-4797-9FD3-DC4254A6C00D}"/>
              </a:ext>
            </a:extLst>
          </p:cNvPr>
          <p:cNvSpPr>
            <a:spLocks noGrp="1"/>
          </p:cNvSpPr>
          <p:nvPr/>
        </p:nvSpPr>
        <p:spPr>
          <a:xfrm>
            <a:off x="990600" y="577215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Select framework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FA19AF-B356-4663-94A2-282C311840FD}"/>
              </a:ext>
            </a:extLst>
          </p:cNvPr>
          <p:cNvSpPr>
            <a:spLocks noGrp="1"/>
          </p:cNvSpPr>
          <p:nvPr/>
        </p:nvSpPr>
        <p:spPr>
          <a:xfrm>
            <a:off x="2838450" y="5657850"/>
            <a:ext cx="1543050" cy="419100"/>
          </a:xfrm>
          <a:prstGeom prst="rect">
            <a:avLst/>
          </a:prstGeom>
          <a:solidFill>
            <a:srgbClr val="F8F1F5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ABCF1B-E081-41C1-BA46-6980098A2ED4}"/>
              </a:ext>
            </a:extLst>
          </p:cNvPr>
          <p:cNvSpPr>
            <a:spLocks noGrp="1"/>
          </p:cNvSpPr>
          <p:nvPr/>
        </p:nvSpPr>
        <p:spPr>
          <a:xfrm>
            <a:off x="2990850" y="577215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Select element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3BFBE7-E63A-4F34-9437-B5562C25DCE7}"/>
              </a:ext>
            </a:extLst>
          </p:cNvPr>
          <p:cNvSpPr>
            <a:spLocks noGrp="1"/>
          </p:cNvSpPr>
          <p:nvPr/>
        </p:nvSpPr>
        <p:spPr>
          <a:xfrm>
            <a:off x="6438900" y="5657850"/>
            <a:ext cx="1676400" cy="419100"/>
          </a:xfrm>
          <a:prstGeom prst="rect">
            <a:avLst/>
          </a:prstGeom>
          <a:solidFill>
            <a:srgbClr val="DCFCE7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3CC3AF-5F4C-4BBA-AF51-75B73D08D238}"/>
              </a:ext>
            </a:extLst>
          </p:cNvPr>
          <p:cNvSpPr>
            <a:spLocks noGrp="1"/>
          </p:cNvSpPr>
          <p:nvPr/>
        </p:nvSpPr>
        <p:spPr>
          <a:xfrm>
            <a:off x="6591300" y="577215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Check descriptor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A2BC59-2ABF-4167-9E6A-6B673EA32852}"/>
              </a:ext>
            </a:extLst>
          </p:cNvPr>
          <p:cNvSpPr>
            <a:spLocks noGrp="1"/>
          </p:cNvSpPr>
          <p:nvPr/>
        </p:nvSpPr>
        <p:spPr>
          <a:xfrm>
            <a:off x="8420100" y="5657850"/>
            <a:ext cx="1676400" cy="419100"/>
          </a:xfrm>
          <a:prstGeom prst="rect">
            <a:avLst/>
          </a:prstGeom>
          <a:solidFill>
            <a:srgbClr val="FFF7ED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F41B90-50B4-4835-A039-1051842B6C69}"/>
              </a:ext>
            </a:extLst>
          </p:cNvPr>
          <p:cNvSpPr>
            <a:spLocks noGrp="1"/>
          </p:cNvSpPr>
          <p:nvPr/>
        </p:nvSpPr>
        <p:spPr>
          <a:xfrm>
            <a:off x="8572500" y="577215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Add reference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A53711-9B25-4BEA-9D05-35232C741D24}"/>
              </a:ext>
            </a:extLst>
          </p:cNvPr>
          <p:cNvSpPr>
            <a:spLocks noGrp="1"/>
          </p:cNvSpPr>
          <p:nvPr/>
        </p:nvSpPr>
        <p:spPr>
          <a:xfrm>
            <a:off x="704850" y="61150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Progression step usually defaults sensibly. Check it before adding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146616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41719D5-2491-4F5E-ADC2-CF403D2C27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18E585-C595-472D-9573-5C63A14468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C175B2-C12A-4EB7-9041-AE15D770503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ADD CURRICULUM ENTRY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E27BF6-4B4F-4124-A3C8-6EF346A39F2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Step 4 and 5 - Themes and save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1BE3A1-A7D8-4010-BD15-5EBD134E1523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Cross-cutting theme elements are optional on skills entries, but they help explain wider curriculum evidence.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CD90E0-217E-4078-B9FA-447FF8E0105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ECDE94-77F9-4711-9791-6870637C8744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C2D743-FAD3-4176-BFC9-62435226F0A9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6191250" cy="379095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F345CC-0E2B-4431-8E03-E0889E60D3C8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6191250" cy="3790950"/>
          </a:xfrm>
          <a:prstGeom prst="rect">
            <a:avLst/>
          </a:prstGeom>
          <a:solidFill>
            <a:srgbClr val="FFFFFF"/>
          </a:solidFill>
          <a:ln w="13335">
            <a:solidFill>
              <a:srgbClr val="7A1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8692" y="2190750"/>
            <a:ext cx="5547365" cy="35623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ED31644-7484-47AB-9306-A2760DFCD175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3429000" cy="742950"/>
          </a:xfrm>
          <a:prstGeom prst="rect">
            <a:avLst/>
          </a:prstGeom>
          <a:solidFill>
            <a:srgbClr val="F8F1F5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00449-FE1A-46D6-9146-AFEDE0398ED5}"/>
              </a:ext>
            </a:extLst>
          </p:cNvPr>
          <p:cNvSpPr>
            <a:spLocks noGrp="1"/>
          </p:cNvSpPr>
          <p:nvPr/>
        </p:nvSpPr>
        <p:spPr>
          <a:xfrm>
            <a:off x="7391400" y="2266950"/>
            <a:ext cx="3124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Expand a theme, then tick only the elements that are genuinely covered.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3A01C6-013D-4A16-ADEC-3AFB681A0170}"/>
              </a:ext>
            </a:extLst>
          </p:cNvPr>
          <p:cNvSpPr>
            <a:spLocks noGrp="1"/>
          </p:cNvSpPr>
          <p:nvPr/>
        </p:nvSpPr>
        <p:spPr>
          <a:xfrm>
            <a:off x="7296150" y="3219450"/>
            <a:ext cx="36385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Add notes if they help explain the judgement</a:t>
            </a:r>
          </a:p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Review skills and theme choices before saving</a:t>
            </a:r>
          </a:p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Use Save mapping to finish the entry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A1568F-43BD-43FB-81DE-96728E0D8B28}"/>
              </a:ext>
            </a:extLst>
          </p:cNvPr>
          <p:cNvSpPr>
            <a:spLocks noGrp="1"/>
          </p:cNvSpPr>
          <p:nvPr/>
        </p:nvSpPr>
        <p:spPr>
          <a:xfrm>
            <a:off x="7315200" y="4895850"/>
            <a:ext cx="3448050" cy="81915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D5EBCD-F35D-4216-BF10-BFCE81360A05}"/>
              </a:ext>
            </a:extLst>
          </p:cNvPr>
          <p:cNvSpPr>
            <a:spLocks noGrp="1"/>
          </p:cNvSpPr>
          <p:nvPr/>
        </p:nvSpPr>
        <p:spPr>
          <a:xfrm>
            <a:off x="7239000" y="4800600"/>
            <a:ext cx="344805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53300" y="4970482"/>
            <a:ext cx="3219450" cy="47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7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C6B309-22F3-4EB6-A31A-9B7A6484C0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B639AD-550E-4D5D-99CC-2A0F2A5D6E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9F9CFD-7C02-470C-9488-07A1CA69671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EDIT CURRICULUM ENTRY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195D50-1530-4AC8-9297-6F4D5050984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When to use Edit Curriculum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F6925-1404-49E6-BE73-0B5FF83003BE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Use edit mode to improve existing mappings rather than creating duplicates.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86C370-0B5B-48C3-8CD4-33CCA4B17E6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F94F7-74EA-46D4-A60B-ECDA296F0DBB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A11C0F-663B-4E2C-8B11-7A1A3A30D640}"/>
              </a:ext>
            </a:extLst>
          </p:cNvPr>
          <p:cNvSpPr>
            <a:spLocks noGrp="1"/>
          </p:cNvSpPr>
          <p:nvPr/>
        </p:nvSpPr>
        <p:spPr>
          <a:xfrm>
            <a:off x="6267450" y="1962150"/>
            <a:ext cx="4495800" cy="371475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47BA3-04F1-424F-B809-3BA7D4938996}"/>
              </a:ext>
            </a:extLst>
          </p:cNvPr>
          <p:cNvSpPr>
            <a:spLocks noGrp="1"/>
          </p:cNvSpPr>
          <p:nvPr/>
        </p:nvSpPr>
        <p:spPr>
          <a:xfrm>
            <a:off x="6191250" y="1866900"/>
            <a:ext cx="4495800" cy="3714750"/>
          </a:xfrm>
          <a:prstGeom prst="rect">
            <a:avLst/>
          </a:prstGeom>
          <a:solidFill>
            <a:srgbClr val="FFFFFF"/>
          </a:solidFill>
          <a:ln w="13335">
            <a:solidFill>
              <a:srgbClr val="7A1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2787035"/>
            <a:ext cx="4267200" cy="187448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F86B1CA-AE61-484F-BAEB-B2A301801FB0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47434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Correct mistakes in curriculum details</a:t>
            </a:r>
          </a:p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Add missing skills evidence</a:t>
            </a:r>
          </a:p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Remove references that do not really apply</a:t>
            </a:r>
          </a:p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Add or amend theme evidence</a:t>
            </a:r>
          </a:p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Update descriptions or scheme references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6337-E9E6-4FB0-A54A-1D5C511C07E0}"/>
              </a:ext>
            </a:extLst>
          </p:cNvPr>
          <p:cNvSpPr>
            <a:spLocks noGrp="1"/>
          </p:cNvSpPr>
          <p:nvPr/>
        </p:nvSpPr>
        <p:spPr>
          <a:xfrm>
            <a:off x="838200" y="5029200"/>
            <a:ext cx="4591050" cy="704850"/>
          </a:xfrm>
          <a:prstGeom prst="rect">
            <a:avLst/>
          </a:prstGeom>
          <a:solidFill>
            <a:srgbClr val="F8F1F5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40DCE7-F260-4CBC-B20B-97B022706553}"/>
              </a:ext>
            </a:extLst>
          </p:cNvPr>
          <p:cNvSpPr>
            <a:spLocks noGrp="1"/>
          </p:cNvSpPr>
          <p:nvPr/>
        </p:nvSpPr>
        <p:spPr>
          <a:xfrm>
            <a:off x="1066800" y="5238750"/>
            <a:ext cx="4114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Good rule: edit the existing entry when the scheme already exists.</a:t>
            </a:r>
          </a:p>
        </p:txBody>
      </p:sp>
    </p:spTree>
    <p:extLst>
      <p:ext uri="{BB962C8B-B14F-4D97-AF65-F5344CB8AC3E}">
        <p14:creationId xmlns:p14="http://schemas.microsoft.com/office/powerpoint/2010/main" val="1345432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B123BFD-2E77-4B10-91DC-E9FB4AF10C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9DFE4E-2A18-45AD-84B7-7D87AAA090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5DDA0A-F2F7-4C4B-9D08-DAF2C26ABD3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EDIT CURRICULUM ENTRY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182970-9D0E-4183-82E8-1B96A3D3F0A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Browse by subject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617AD1-4C0E-490B-9713-E7DC6F57FC70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Start with the subject, then find the year group and scheme or activity card.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64FBBC-934E-4A3D-9F58-53E5913BD5B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AF329-DF0D-44B4-B374-8443FEEF853B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8B2306-35A3-4890-850A-4B7ECE529C7C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7677150" cy="390525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6FFF99-71AE-4567-A316-E669BC47B3E2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7677150" cy="3905250"/>
          </a:xfrm>
          <a:prstGeom prst="rect">
            <a:avLst/>
          </a:prstGeom>
          <a:solidFill>
            <a:srgbClr val="FFFFFF"/>
          </a:solidFill>
          <a:ln w="13335">
            <a:solidFill>
              <a:srgbClr val="7A1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8200" y="2240689"/>
            <a:ext cx="7448550" cy="327197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7B780A8-50FA-4120-A44E-13B64EFF06FF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2571750" cy="514350"/>
          </a:xfrm>
          <a:prstGeom prst="rect">
            <a:avLst/>
          </a:prstGeom>
          <a:solidFill>
            <a:srgbClr val="F8F1F5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0EF31E-EC63-4CB2-B6E2-2AE4FD70C401}"/>
              </a:ext>
            </a:extLst>
          </p:cNvPr>
          <p:cNvSpPr>
            <a:spLocks noGrp="1"/>
          </p:cNvSpPr>
          <p:nvPr/>
        </p:nvSpPr>
        <p:spPr>
          <a:xfrm>
            <a:off x="8877300" y="2190750"/>
            <a:ext cx="2266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1. Select your subject.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F5A559-4325-4F0B-ACAD-7CD1D37458BB}"/>
              </a:ext>
            </a:extLst>
          </p:cNvPr>
          <p:cNvSpPr>
            <a:spLocks noGrp="1"/>
          </p:cNvSpPr>
          <p:nvPr/>
        </p:nvSpPr>
        <p:spPr>
          <a:xfrm>
            <a:off x="8724900" y="2952750"/>
            <a:ext cx="2571750" cy="647700"/>
          </a:xfrm>
          <a:prstGeom prst="rect">
            <a:avLst/>
          </a:prstGeom>
          <a:solidFill>
            <a:srgbClr val="FFFFFF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35F136-708A-4165-8A24-110B973FE8F0}"/>
              </a:ext>
            </a:extLst>
          </p:cNvPr>
          <p:cNvSpPr>
            <a:spLocks noGrp="1"/>
          </p:cNvSpPr>
          <p:nvPr/>
        </p:nvSpPr>
        <p:spPr>
          <a:xfrm>
            <a:off x="8877300" y="3067050"/>
            <a:ext cx="2266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2. Use year group and term filters if needed.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D17A31-539E-44B5-B6B4-7FB423900D8C}"/>
              </a:ext>
            </a:extLst>
          </p:cNvPr>
          <p:cNvSpPr>
            <a:spLocks noGrp="1"/>
          </p:cNvSpPr>
          <p:nvPr/>
        </p:nvSpPr>
        <p:spPr>
          <a:xfrm>
            <a:off x="8724900" y="3943350"/>
            <a:ext cx="257175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8E11D2-066B-41B1-BE25-7DC7F39D5C8B}"/>
              </a:ext>
            </a:extLst>
          </p:cNvPr>
          <p:cNvSpPr>
            <a:spLocks noGrp="1"/>
          </p:cNvSpPr>
          <p:nvPr/>
        </p:nvSpPr>
        <p:spPr>
          <a:xfrm>
            <a:off x="8877300" y="4057650"/>
            <a:ext cx="2266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3. Find the scheme/reference.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539F9F-1791-4A30-B6FF-397CFBEB67F2}"/>
              </a:ext>
            </a:extLst>
          </p:cNvPr>
          <p:cNvSpPr>
            <a:spLocks noGrp="1"/>
          </p:cNvSpPr>
          <p:nvPr/>
        </p:nvSpPr>
        <p:spPr>
          <a:xfrm>
            <a:off x="8724900" y="4819650"/>
            <a:ext cx="2571750" cy="514350"/>
          </a:xfrm>
          <a:prstGeom prst="rect">
            <a:avLst/>
          </a:prstGeom>
          <a:solidFill>
            <a:srgbClr val="DCFCE7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B8502D-D54A-490C-B365-9CD4C7816130}"/>
              </a:ext>
            </a:extLst>
          </p:cNvPr>
          <p:cNvSpPr>
            <a:spLocks noGrp="1"/>
          </p:cNvSpPr>
          <p:nvPr/>
        </p:nvSpPr>
        <p:spPr>
          <a:xfrm>
            <a:off x="8877300" y="4933950"/>
            <a:ext cx="2266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4. Open the mapping to edit.</a:t>
            </a:r>
          </a:p>
        </p:txBody>
      </p:sp>
    </p:spTree>
    <p:extLst>
      <p:ext uri="{BB962C8B-B14F-4D97-AF65-F5344CB8AC3E}">
        <p14:creationId xmlns:p14="http://schemas.microsoft.com/office/powerpoint/2010/main" val="66124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0957581-CA04-4D66-9F87-2169FA5544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511324-45AF-42DA-BC58-0FA3301288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B074F6-5065-498B-BA43-34C8C1DA078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EDIT CURRICULUM ENTRY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6F589B-B102-45EC-839F-633D82261A7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Editing a mapping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6F1EF-B346-403A-9286-8E654F81D7C2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Review the curriculum details and the linked framework references before saving.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F2D1E99-157F-411A-B6C6-939D3161DD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91F9E-8C80-4AAD-ACBC-B2E5B2E6FB13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DC86F4-C6E3-46F3-A2F9-6118548CE787}"/>
              </a:ext>
            </a:extLst>
          </p:cNvPr>
          <p:cNvSpPr>
            <a:spLocks noGrp="1"/>
          </p:cNvSpPr>
          <p:nvPr/>
        </p:nvSpPr>
        <p:spPr>
          <a:xfrm>
            <a:off x="762000" y="1924050"/>
            <a:ext cx="4953000" cy="325755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FEA31A-73D8-4445-BAE6-60729099D316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4953000" cy="3257550"/>
          </a:xfrm>
          <a:prstGeom prst="rect">
            <a:avLst/>
          </a:prstGeom>
          <a:solidFill>
            <a:srgbClr val="FFFFFF"/>
          </a:solidFill>
          <a:ln w="13335">
            <a:solidFill>
              <a:srgbClr val="7A1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0100" y="2070120"/>
            <a:ext cx="4724400" cy="277491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AF9A803-F75E-49A6-BB9D-D2FD384157EE}"/>
              </a:ext>
            </a:extLst>
          </p:cNvPr>
          <p:cNvSpPr>
            <a:spLocks noGrp="1"/>
          </p:cNvSpPr>
          <p:nvPr/>
        </p:nvSpPr>
        <p:spPr>
          <a:xfrm>
            <a:off x="6019800" y="1924050"/>
            <a:ext cx="4438650" cy="325755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D3117A-7969-4BDC-9466-975AA2BCF863}"/>
              </a:ext>
            </a:extLst>
          </p:cNvPr>
          <p:cNvSpPr>
            <a:spLocks noGrp="1"/>
          </p:cNvSpPr>
          <p:nvPr/>
        </p:nvSpPr>
        <p:spPr>
          <a:xfrm>
            <a:off x="5943600" y="1828800"/>
            <a:ext cx="4438650" cy="3257550"/>
          </a:xfrm>
          <a:prstGeom prst="rect">
            <a:avLst/>
          </a:prstGeom>
          <a:solidFill>
            <a:srgbClr val="FFFFFF"/>
          </a:solidFill>
          <a:ln w="1333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57900" y="2300863"/>
            <a:ext cx="4210050" cy="231342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2B7EA8B-6628-443B-A102-EC8A4A9D98D0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4953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Update curriculum details</a:t>
            </a:r>
          </a:p>
          <a:p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Add or remove framework references</a:t>
            </a:r>
          </a:p>
          <a:p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Amend theme elements and notes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9C0886-BFC2-462D-8F4F-E1BB1EC975B3}"/>
              </a:ext>
            </a:extLst>
          </p:cNvPr>
          <p:cNvSpPr>
            <a:spLocks noGrp="1"/>
          </p:cNvSpPr>
          <p:nvPr/>
        </p:nvSpPr>
        <p:spPr>
          <a:xfrm>
            <a:off x="6229350" y="5410200"/>
            <a:ext cx="3657600" cy="552450"/>
          </a:xfrm>
          <a:prstGeom prst="rect">
            <a:avLst/>
          </a:prstGeom>
          <a:solidFill>
            <a:srgbClr val="DCFCE7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51CBAE-783E-41B8-9D80-4522D0531B4D}"/>
              </a:ext>
            </a:extLst>
          </p:cNvPr>
          <p:cNvSpPr>
            <a:spLocks noGrp="1"/>
          </p:cNvSpPr>
          <p:nvPr/>
        </p:nvSpPr>
        <p:spPr>
          <a:xfrm>
            <a:off x="6381750" y="5524500"/>
            <a:ext cx="3352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Save changes when the mapping is accurate.</a:t>
            </a:r>
          </a:p>
        </p:txBody>
      </p:sp>
    </p:spTree>
    <p:extLst>
      <p:ext uri="{BB962C8B-B14F-4D97-AF65-F5344CB8AC3E}">
        <p14:creationId xmlns:p14="http://schemas.microsoft.com/office/powerpoint/2010/main" val="44889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EE72725-2770-4A70-BDBA-4554559AF6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9C45AA-339D-42ED-A846-49266A7633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E48768-9190-4F68-BB48-F3A59DDB813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EDIT CURRICULUM ENTRY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FD108-711D-4D92-AE32-3C3395C8C461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Good editing practice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3639B1-11C5-41DB-A6EF-2C4BD8C8A855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Keep the tracker useful by making each mapping specific and evidence-led.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5BEE0E-B2C7-4B19-8CB5-9B7DA3861B8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3F5596-80D2-46DF-8831-A687886A5B0A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AF4ACD-ED26-4911-8871-C1694ADD2912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67056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Avoid duplicate mappings for the same scheme or activity</a:t>
            </a:r>
          </a:p>
          <a:p>
            <a:pPr algn="l">
              <a:defRPr sz="18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Use one entry per meaningful curriculum item</a:t>
            </a:r>
          </a:p>
          <a:p>
            <a:pPr algn="l">
              <a:defRPr sz="18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Add only genuine skills evidence</a:t>
            </a:r>
          </a:p>
          <a:p>
            <a:pPr algn="l">
              <a:defRPr sz="18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Use notes to explain judgement where needed</a:t>
            </a:r>
          </a:p>
          <a:p>
            <a:pPr algn="l">
              <a:defRPr sz="18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Save after checking selected references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07036D-E549-4B5D-A26F-F214B106154E}"/>
              </a:ext>
            </a:extLst>
          </p:cNvPr>
          <p:cNvSpPr>
            <a:spLocks noGrp="1"/>
          </p:cNvSpPr>
          <p:nvPr/>
        </p:nvSpPr>
        <p:spPr>
          <a:xfrm>
            <a:off x="7981950" y="2247900"/>
            <a:ext cx="2819400" cy="1066800"/>
          </a:xfrm>
          <a:prstGeom prst="rect">
            <a:avLst/>
          </a:prstGeom>
          <a:solidFill>
            <a:srgbClr val="F8F1F5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8D697C-E0A0-4C1F-8449-E4DABB8FDBA5}"/>
              </a:ext>
            </a:extLst>
          </p:cNvPr>
          <p:cNvSpPr>
            <a:spLocks noGrp="1"/>
          </p:cNvSpPr>
          <p:nvPr/>
        </p:nvSpPr>
        <p:spPr>
          <a:xfrm>
            <a:off x="8134350" y="2362200"/>
            <a:ext cx="25146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If a mapping needs major reworking, edit it carefully rather than starting again.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7CC1CC-16E3-4C04-9565-117E44C60C03}"/>
              </a:ext>
            </a:extLst>
          </p:cNvPr>
          <p:cNvSpPr>
            <a:spLocks noGrp="1"/>
          </p:cNvSpPr>
          <p:nvPr/>
        </p:nvSpPr>
        <p:spPr>
          <a:xfrm>
            <a:off x="8058150" y="3981450"/>
            <a:ext cx="2952750" cy="78105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275290-E42E-4421-89ED-2A425558DBEC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2952750" cy="781050"/>
          </a:xfrm>
          <a:prstGeom prst="rect">
            <a:avLst/>
          </a:prstGeom>
          <a:solidFill>
            <a:srgbClr val="FFFFFF"/>
          </a:solidFill>
          <a:ln w="1333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96250" y="4073908"/>
            <a:ext cx="2724150" cy="40563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988F24C-06CB-4B6C-91AD-17189EB554B8}"/>
              </a:ext>
            </a:extLst>
          </p:cNvPr>
          <p:cNvSpPr>
            <a:spLocks noGrp="1"/>
          </p:cNvSpPr>
          <p:nvPr/>
        </p:nvSpPr>
        <p:spPr>
          <a:xfrm>
            <a:off x="8058150" y="4953000"/>
            <a:ext cx="2762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Only use Delete mapping when the entry should no longer exist.</a:t>
            </a:r>
          </a:p>
        </p:txBody>
      </p:sp>
    </p:spTree>
    <p:extLst>
      <p:ext uri="{BB962C8B-B14F-4D97-AF65-F5344CB8AC3E}">
        <p14:creationId xmlns:p14="http://schemas.microsoft.com/office/powerpoint/2010/main" val="53096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568A0F-6D8B-4F18-A36A-1060BB09DE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5F40F5-16B7-4A17-8871-D9AFA99872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5955D1-DCC3-4064-BAB2-CE81F94484B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VIEW SUBJECT HEALTH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031261-D3AD-410E-A0D7-8305EB041A2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Subject Health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C05B74-541D-4EF6-A42D-CF23B2EA519A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Subject leads can use this page to review curriculum coverage and identify useful next actions.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CC0D5BA-95CE-45F8-8A92-2DF70CFCF95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FB5A31-C7FD-486A-A89E-8B13BD1CDA8F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E8FF27-FBE5-4AEE-A349-E39E9E549D95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3257550" cy="297180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479500-745F-442D-9D08-F96262D98D71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3257550" cy="2971800"/>
          </a:xfrm>
          <a:prstGeom prst="rect">
            <a:avLst/>
          </a:prstGeom>
          <a:solidFill>
            <a:srgbClr val="FFFFFF"/>
          </a:solidFill>
          <a:ln w="13335">
            <a:solidFill>
              <a:srgbClr val="7A1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0100" y="2584725"/>
            <a:ext cx="3028950" cy="16123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1B09298-97E0-4EC1-A63A-41721C22A4C8}"/>
              </a:ext>
            </a:extLst>
          </p:cNvPr>
          <p:cNvSpPr>
            <a:spLocks noGrp="1"/>
          </p:cNvSpPr>
          <p:nvPr/>
        </p:nvSpPr>
        <p:spPr>
          <a:xfrm>
            <a:off x="4343400" y="2000250"/>
            <a:ext cx="6191250" cy="297180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3C082E-BA00-4E72-8881-5C45871E5F53}"/>
              </a:ext>
            </a:extLst>
          </p:cNvPr>
          <p:cNvSpPr>
            <a:spLocks noGrp="1"/>
          </p:cNvSpPr>
          <p:nvPr/>
        </p:nvSpPr>
        <p:spPr>
          <a:xfrm>
            <a:off x="4267200" y="1905000"/>
            <a:ext cx="6191250" cy="2971800"/>
          </a:xfrm>
          <a:prstGeom prst="rect">
            <a:avLst/>
          </a:prstGeom>
          <a:solidFill>
            <a:srgbClr val="FFFFFF"/>
          </a:solidFill>
          <a:ln w="1333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81500" y="2091348"/>
            <a:ext cx="5962650" cy="259910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03E0AAD-039B-42A5-B436-7371C061019E}"/>
              </a:ext>
            </a:extLst>
          </p:cNvPr>
          <p:cNvSpPr>
            <a:spLocks noGrp="1"/>
          </p:cNvSpPr>
          <p:nvPr/>
        </p:nvSpPr>
        <p:spPr>
          <a:xfrm>
            <a:off x="1028700" y="5219700"/>
            <a:ext cx="87058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Open Subject Health from the Subjects menu</a:t>
            </a:r>
          </a:p>
          <a:p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Select the subject and filters</a:t>
            </a:r>
          </a:p>
          <a:p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Review mapped schemes and framework coverage</a:t>
            </a:r>
          </a:p>
          <a:p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Use the report to spot gaps before improvement planning</a:t>
            </a:r>
          </a:p>
        </p:txBody>
      </p:sp>
    </p:spTree>
    <p:extLst>
      <p:ext uri="{BB962C8B-B14F-4D97-AF65-F5344CB8AC3E}">
        <p14:creationId xmlns:p14="http://schemas.microsoft.com/office/powerpoint/2010/main" val="1584080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F92F6C4-999D-4E6A-AAE5-6A719054D7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D706AA-A522-4AB4-A0B1-914FFB5FEC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CFAE82-E0DF-4987-B4D7-952E8660F37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VIEW SUBJECT HEALTH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34686-0EB2-43A2-8D91-F04CB3340A3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Reading the Subject Curriculum Journey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303CFD-0D2E-4391-ACEA-4FF6426101C0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report helps you see what is mapped and where coverage is thin.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A8A5AD-0C61-4997-B0A1-BB3B7A4E368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3C4BFB-F4EE-4F64-B4BE-9B8C64E69C2F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4E33B7-BC35-4D53-B68A-F9F7459FA547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6838950" cy="377190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D5E4D-99B9-4B6D-9E9B-5CD91D093B7A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6838950" cy="3771900"/>
          </a:xfrm>
          <a:prstGeom prst="rect">
            <a:avLst/>
          </a:prstGeom>
          <a:solidFill>
            <a:srgbClr val="FFFFFF"/>
          </a:solidFill>
          <a:ln w="13335">
            <a:solidFill>
              <a:srgbClr val="7A1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0100" y="2183996"/>
            <a:ext cx="6610350" cy="33282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08A5384-BD1F-4143-983D-6B7CD55E72AB}"/>
              </a:ext>
            </a:extLst>
          </p:cNvPr>
          <p:cNvSpPr>
            <a:spLocks noGrp="1"/>
          </p:cNvSpPr>
          <p:nvPr/>
        </p:nvSpPr>
        <p:spPr>
          <a:xfrm>
            <a:off x="7924800" y="2114550"/>
            <a:ext cx="3181350" cy="723900"/>
          </a:xfrm>
          <a:prstGeom prst="rect">
            <a:avLst/>
          </a:prstGeom>
          <a:solidFill>
            <a:srgbClr val="F8F1F5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B8DD3-1741-4D7E-9C4E-24F24A2FF956}"/>
              </a:ext>
            </a:extLst>
          </p:cNvPr>
          <p:cNvSpPr>
            <a:spLocks noGrp="1"/>
          </p:cNvSpPr>
          <p:nvPr/>
        </p:nvSpPr>
        <p:spPr>
          <a:xfrm>
            <a:off x="8077200" y="2228850"/>
            <a:ext cx="2876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Curriculum entries show how much mapped evidence exists.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B380D7-6EDB-41F7-9917-9AAE4EFFC44F}"/>
              </a:ext>
            </a:extLst>
          </p:cNvPr>
          <p:cNvSpPr>
            <a:spLocks noGrp="1"/>
          </p:cNvSpPr>
          <p:nvPr/>
        </p:nvSpPr>
        <p:spPr>
          <a:xfrm>
            <a:off x="7924800" y="3105150"/>
            <a:ext cx="3181350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93D583-33EF-4D8A-964A-46CF1706AB65}"/>
              </a:ext>
            </a:extLst>
          </p:cNvPr>
          <p:cNvSpPr>
            <a:spLocks noGrp="1"/>
          </p:cNvSpPr>
          <p:nvPr/>
        </p:nvSpPr>
        <p:spPr>
          <a:xfrm>
            <a:off x="8077200" y="3219450"/>
            <a:ext cx="2876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Framework cards summarise Literacy, Numeracy and DCF rows.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3736E2-FAA5-4EEF-95D7-8590A427583B}"/>
              </a:ext>
            </a:extLst>
          </p:cNvPr>
          <p:cNvSpPr>
            <a:spLocks noGrp="1"/>
          </p:cNvSpPr>
          <p:nvPr/>
        </p:nvSpPr>
        <p:spPr>
          <a:xfrm>
            <a:off x="7924800" y="4095750"/>
            <a:ext cx="3181350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C1D4AD-94FB-4567-B519-F38552B730FD}"/>
              </a:ext>
            </a:extLst>
          </p:cNvPr>
          <p:cNvSpPr>
            <a:spLocks noGrp="1"/>
          </p:cNvSpPr>
          <p:nvPr/>
        </p:nvSpPr>
        <p:spPr>
          <a:xfrm>
            <a:off x="8077200" y="4210050"/>
            <a:ext cx="2876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Use the filter area to focus the report by year group or term.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CB9080-CE3E-4CDF-ADE5-3E3DC2FFC932}"/>
              </a:ext>
            </a:extLst>
          </p:cNvPr>
          <p:cNvSpPr>
            <a:spLocks noGrp="1"/>
          </p:cNvSpPr>
          <p:nvPr/>
        </p:nvSpPr>
        <p:spPr>
          <a:xfrm>
            <a:off x="7924800" y="5086350"/>
            <a:ext cx="3181350" cy="723900"/>
          </a:xfrm>
          <a:prstGeom prst="rect">
            <a:avLst/>
          </a:prstGeom>
          <a:solidFill>
            <a:srgbClr val="DCFCE7"/>
          </a:solidFill>
          <a:ln w="11430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50788A-D8AC-4965-92C3-316B716327E2}"/>
              </a:ext>
            </a:extLst>
          </p:cNvPr>
          <p:cNvSpPr>
            <a:spLocks noGrp="1"/>
          </p:cNvSpPr>
          <p:nvPr/>
        </p:nvSpPr>
        <p:spPr>
          <a:xfrm>
            <a:off x="8077200" y="5200650"/>
            <a:ext cx="2876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Open mappings for improvement where coverage needs strengthening.</a:t>
            </a:r>
          </a:p>
        </p:txBody>
      </p:sp>
    </p:spTree>
    <p:extLst>
      <p:ext uri="{BB962C8B-B14F-4D97-AF65-F5344CB8AC3E}">
        <p14:creationId xmlns:p14="http://schemas.microsoft.com/office/powerpoint/2010/main" val="697354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EC947C7-1FDD-4FC7-9169-B4EADF53F5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539B3C-6C39-4F4A-90DA-3EB76E57E4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AC4A39-15FF-40AE-9998-1D555722891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VIEW SUBJECT HEALTH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7310E4-5263-40BF-9939-F019779713E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Spotting gaps and improvement actions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5F0C3-A5CD-400B-8C8B-7CEC9F253AFB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Use the report to turn curriculum coverage into practical follow-up work.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6FEA51-8CE9-41EB-9567-23BB1189DD6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E3C437-41D3-4108-92EC-E3910146E3F3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FF9424-E6B0-457F-9515-674A317F81A9}"/>
              </a:ext>
            </a:extLst>
          </p:cNvPr>
          <p:cNvSpPr>
            <a:spLocks noGrp="1"/>
          </p:cNvSpPr>
          <p:nvPr/>
        </p:nvSpPr>
        <p:spPr>
          <a:xfrm>
            <a:off x="6134100" y="1962150"/>
            <a:ext cx="4686300" cy="3848100"/>
          </a:xfrm>
          <a:prstGeom prst="rect">
            <a:avLst/>
          </a:prstGeom>
          <a:solidFill>
            <a:srgbClr val="000000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1FDCCC-5B74-447A-9422-13914D214520}"/>
              </a:ext>
            </a:extLst>
          </p:cNvPr>
          <p:cNvSpPr>
            <a:spLocks noGrp="1"/>
          </p:cNvSpPr>
          <p:nvPr/>
        </p:nvSpPr>
        <p:spPr>
          <a:xfrm>
            <a:off x="6057900" y="1866900"/>
            <a:ext cx="4686300" cy="3848100"/>
          </a:xfrm>
          <a:prstGeom prst="rect">
            <a:avLst/>
          </a:prstGeom>
          <a:solidFill>
            <a:srgbClr val="FFFFFF"/>
          </a:solidFill>
          <a:ln w="13335">
            <a:solidFill>
              <a:srgbClr val="7A1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72200" y="2475053"/>
            <a:ext cx="4457700" cy="26317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B0E7A45-47D3-4620-91F3-A218469DF81A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4743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Year groups with no mappings</a:t>
            </a:r>
          </a:p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Schemes with no DCF evidence</a:t>
            </a:r>
          </a:p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Schemes with no theme evidence</a:t>
            </a:r>
          </a:p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Over-reliance on one framework</a:t>
            </a:r>
          </a:p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Missing Step 5 challenge where it would be appropriate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99938F-1ACA-4CCE-B94A-FDAD7CDE8CEB}"/>
              </a:ext>
            </a:extLst>
          </p:cNvPr>
          <p:cNvSpPr>
            <a:spLocks noGrp="1"/>
          </p:cNvSpPr>
          <p:nvPr/>
        </p:nvSpPr>
        <p:spPr>
          <a:xfrm>
            <a:off x="838200" y="5181600"/>
            <a:ext cx="4743450" cy="742950"/>
          </a:xfrm>
          <a:prstGeom prst="rect">
            <a:avLst/>
          </a:prstGeom>
          <a:solidFill>
            <a:srgbClr val="F8F1F5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FE39B-3077-46EF-8064-D968F6D045C5}"/>
              </a:ext>
            </a:extLst>
          </p:cNvPr>
          <p:cNvSpPr>
            <a:spLocks noGrp="1"/>
          </p:cNvSpPr>
          <p:nvPr/>
        </p:nvSpPr>
        <p:spPr>
          <a:xfrm>
            <a:off x="1066800" y="5391150"/>
            <a:ext cx="4267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D12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D1239"/>
                </a:solidFill>
                <a:latin typeface="Aptos"/>
                <a:ea typeface="Aptos"/>
                <a:cs typeface="Aptos"/>
              </a:rPr>
              <a:t>Best use: agree one or two high-value actions, then update the relevant mappings.</a:t>
            </a:r>
          </a:p>
        </p:txBody>
      </p:sp>
    </p:spTree>
    <p:extLst>
      <p:ext uri="{BB962C8B-B14F-4D97-AF65-F5344CB8AC3E}">
        <p14:creationId xmlns:p14="http://schemas.microsoft.com/office/powerpoint/2010/main" val="875944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BB9D07A7-EDB2-4FC5-96A6-F44744D435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2B6BA0-AD18-4140-BC94-FFA88F65EC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27EBB-023D-42A9-A419-73215F4E02A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QUICK REFERENCE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B5FCFA-1972-462E-A508-6BD7F8C21F4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Final checklist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C107BB-1F2C-4496-99E6-26E3139BE49B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Use this as a quick reminder when adding, editing or reviewing curriculum mappings.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9400" y="342900"/>
            <a:ext cx="800100" cy="800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3A23C9-BBB1-43A1-8C87-92416128C47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Caerleon Skills Tracker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A4B466-95B0-49D7-A89C-801E4D787451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F1A0D-5C0E-473D-BC2C-93DD1B7275AD}"/>
              </a:ext>
            </a:extLst>
          </p:cNvPr>
          <p:cNvSpPr>
            <a:spLocks noGrp="1"/>
          </p:cNvSpPr>
          <p:nvPr/>
        </p:nvSpPr>
        <p:spPr>
          <a:xfrm>
            <a:off x="790575" y="2190750"/>
            <a:ext cx="3333750" cy="2762250"/>
          </a:xfrm>
          <a:prstGeom prst="rect">
            <a:avLst/>
          </a:prstGeom>
          <a:solidFill>
            <a:srgbClr val="000000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0B2482-D6FE-42DE-9641-0AB8E8203A67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33337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3D5E8-7F8B-44D5-9A6F-E4D6C5F16E00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287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7A1F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A1F4F"/>
                </a:solidFill>
                <a:latin typeface="Aptos"/>
                <a:ea typeface="Aptos"/>
                <a:cs typeface="Aptos"/>
              </a:rPr>
              <a:t>Add Curriculum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616E6D-967A-4FEA-B878-47C71AD80A51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228600" cy="2286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A35C92-B50E-4074-97B9-CB0F29B1E1AA}"/>
              </a:ext>
            </a:extLst>
          </p:cNvPr>
          <p:cNvSpPr>
            <a:spLocks noGrp="1"/>
          </p:cNvSpPr>
          <p:nvPr/>
        </p:nvSpPr>
        <p:spPr>
          <a:xfrm>
            <a:off x="990600" y="2867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CCA368-1995-48CE-B2D6-50D17649226F}"/>
              </a:ext>
            </a:extLst>
          </p:cNvPr>
          <p:cNvSpPr>
            <a:spLocks noGrp="1"/>
          </p:cNvSpPr>
          <p:nvPr/>
        </p:nvSpPr>
        <p:spPr>
          <a:xfrm>
            <a:off x="1333500" y="28575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Choose subject/year/term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B2EDA0-347D-4490-97B0-EB49874998D0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228600" cy="2286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C261E6-94BD-4A41-8FAA-52BE0A251316}"/>
              </a:ext>
            </a:extLst>
          </p:cNvPr>
          <p:cNvSpPr>
            <a:spLocks noGrp="1"/>
          </p:cNvSpPr>
          <p:nvPr/>
        </p:nvSpPr>
        <p:spPr>
          <a:xfrm>
            <a:off x="990600" y="32670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436156-AD97-47F5-B073-DB9B29A69079}"/>
              </a:ext>
            </a:extLst>
          </p:cNvPr>
          <p:cNvSpPr>
            <a:spLocks noGrp="1"/>
          </p:cNvSpPr>
          <p:nvPr/>
        </p:nvSpPr>
        <p:spPr>
          <a:xfrm>
            <a:off x="1333500" y="32575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Add scheme and activity details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8A79CF-E114-4F34-BD2F-62DBCA835795}"/>
              </a:ext>
            </a:extLst>
          </p:cNvPr>
          <p:cNvSpPr>
            <a:spLocks noGrp="1"/>
          </p:cNvSpPr>
          <p:nvPr/>
        </p:nvSpPr>
        <p:spPr>
          <a:xfrm>
            <a:off x="990600" y="3676650"/>
            <a:ext cx="228600" cy="2286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BA5487-7BC5-4157-B3AC-4D5BA2B71E10}"/>
              </a:ext>
            </a:extLst>
          </p:cNvPr>
          <p:cNvSpPr>
            <a:spLocks noGrp="1"/>
          </p:cNvSpPr>
          <p:nvPr/>
        </p:nvSpPr>
        <p:spPr>
          <a:xfrm>
            <a:off x="990600" y="36671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6B5B7A-50F3-495F-A43A-6FB1B580AD62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Add skills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1F2485-3C47-44F0-9178-7BD8540F4BF5}"/>
              </a:ext>
            </a:extLst>
          </p:cNvPr>
          <p:cNvSpPr>
            <a:spLocks noGrp="1"/>
          </p:cNvSpPr>
          <p:nvPr/>
        </p:nvSpPr>
        <p:spPr>
          <a:xfrm>
            <a:off x="990600" y="4076700"/>
            <a:ext cx="228600" cy="2286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AF7787-67D8-4C7F-B3FF-8902C2685F26}"/>
              </a:ext>
            </a:extLst>
          </p:cNvPr>
          <p:cNvSpPr>
            <a:spLocks noGrp="1"/>
          </p:cNvSpPr>
          <p:nvPr/>
        </p:nvSpPr>
        <p:spPr>
          <a:xfrm>
            <a:off x="990600" y="40671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87177F-DFAD-4AD4-9899-038476965F5F}"/>
              </a:ext>
            </a:extLst>
          </p:cNvPr>
          <p:cNvSpPr>
            <a:spLocks noGrp="1"/>
          </p:cNvSpPr>
          <p:nvPr/>
        </p:nvSpPr>
        <p:spPr>
          <a:xfrm>
            <a:off x="1333500" y="40576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Add themes if relevant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C9BD15-234A-4D7D-9E7C-064195AEB337}"/>
              </a:ext>
            </a:extLst>
          </p:cNvPr>
          <p:cNvSpPr>
            <a:spLocks noGrp="1"/>
          </p:cNvSpPr>
          <p:nvPr/>
        </p:nvSpPr>
        <p:spPr>
          <a:xfrm>
            <a:off x="990600" y="4476750"/>
            <a:ext cx="228600" cy="228600"/>
          </a:xfrm>
          <a:prstGeom prst="rect">
            <a:avLst/>
          </a:prstGeom>
          <a:solidFill>
            <a:srgbClr val="7A1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C9CF2B-2374-482C-AD80-71BF58020C13}"/>
              </a:ext>
            </a:extLst>
          </p:cNvPr>
          <p:cNvSpPr>
            <a:spLocks noGrp="1"/>
          </p:cNvSpPr>
          <p:nvPr/>
        </p:nvSpPr>
        <p:spPr>
          <a:xfrm>
            <a:off x="990600" y="44672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92E0CD-F0C5-4DDA-A7B6-609ED3B277CA}"/>
              </a:ext>
            </a:extLst>
          </p:cNvPr>
          <p:cNvSpPr>
            <a:spLocks noGrp="1"/>
          </p:cNvSpPr>
          <p:nvPr/>
        </p:nvSpPr>
        <p:spPr>
          <a:xfrm>
            <a:off x="1333500" y="44577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5E1FC7-7139-43E8-A079-941C19B312BD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3333750" cy="2762250"/>
          </a:xfrm>
          <a:prstGeom prst="rect">
            <a:avLst/>
          </a:prstGeom>
          <a:solidFill>
            <a:srgbClr val="000000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B2DC75-735B-419D-8E0D-00AE14EEC8EC}"/>
              </a:ext>
            </a:extLst>
          </p:cNvPr>
          <p:cNvSpPr>
            <a:spLocks noGrp="1"/>
          </p:cNvSpPr>
          <p:nvPr/>
        </p:nvSpPr>
        <p:spPr>
          <a:xfrm>
            <a:off x="4429125" y="2133600"/>
            <a:ext cx="33337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990582-ADB1-4C8A-AC69-30BCC1B18E1F}"/>
              </a:ext>
            </a:extLst>
          </p:cNvPr>
          <p:cNvSpPr>
            <a:spLocks noGrp="1"/>
          </p:cNvSpPr>
          <p:nvPr/>
        </p:nvSpPr>
        <p:spPr>
          <a:xfrm>
            <a:off x="4657725" y="2362200"/>
            <a:ext cx="287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8B5A7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B5A72"/>
                </a:solidFill>
                <a:latin typeface="Aptos"/>
                <a:ea typeface="Aptos"/>
                <a:cs typeface="Aptos"/>
              </a:rPr>
              <a:t>Edit Curriculum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77D728-1FDE-47D7-A0CB-633BAEC7B72A}"/>
              </a:ext>
            </a:extLst>
          </p:cNvPr>
          <p:cNvSpPr>
            <a:spLocks noGrp="1"/>
          </p:cNvSpPr>
          <p:nvPr/>
        </p:nvSpPr>
        <p:spPr>
          <a:xfrm>
            <a:off x="4676775" y="2876550"/>
            <a:ext cx="228600" cy="228600"/>
          </a:xfrm>
          <a:prstGeom prst="rect">
            <a:avLst/>
          </a:prstGeom>
          <a:solidFill>
            <a:srgbClr val="8B5A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AA69EF-5D88-4590-98D2-5EBE1F7634B7}"/>
              </a:ext>
            </a:extLst>
          </p:cNvPr>
          <p:cNvSpPr>
            <a:spLocks noGrp="1"/>
          </p:cNvSpPr>
          <p:nvPr/>
        </p:nvSpPr>
        <p:spPr>
          <a:xfrm>
            <a:off x="4676775" y="2867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594C4E-AE40-4DDB-ACE4-14C87B539C83}"/>
              </a:ext>
            </a:extLst>
          </p:cNvPr>
          <p:cNvSpPr>
            <a:spLocks noGrp="1"/>
          </p:cNvSpPr>
          <p:nvPr/>
        </p:nvSpPr>
        <p:spPr>
          <a:xfrm>
            <a:off x="5019675" y="28575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Browse by subject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948B0B-6D31-4B6F-987C-57DAA30CBE0C}"/>
              </a:ext>
            </a:extLst>
          </p:cNvPr>
          <p:cNvSpPr>
            <a:spLocks noGrp="1"/>
          </p:cNvSpPr>
          <p:nvPr/>
        </p:nvSpPr>
        <p:spPr>
          <a:xfrm>
            <a:off x="4676775" y="3276600"/>
            <a:ext cx="228600" cy="228600"/>
          </a:xfrm>
          <a:prstGeom prst="rect">
            <a:avLst/>
          </a:prstGeom>
          <a:solidFill>
            <a:srgbClr val="8B5A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F3B0FF-BCEB-4297-AFD6-9602B762DD1C}"/>
              </a:ext>
            </a:extLst>
          </p:cNvPr>
          <p:cNvSpPr>
            <a:spLocks noGrp="1"/>
          </p:cNvSpPr>
          <p:nvPr/>
        </p:nvSpPr>
        <p:spPr>
          <a:xfrm>
            <a:off x="4676775" y="32670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9680DC-133C-46AC-87E1-EC3B630555E4}"/>
              </a:ext>
            </a:extLst>
          </p:cNvPr>
          <p:cNvSpPr>
            <a:spLocks noGrp="1"/>
          </p:cNvSpPr>
          <p:nvPr/>
        </p:nvSpPr>
        <p:spPr>
          <a:xfrm>
            <a:off x="5019675" y="32575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Find the scheme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EBB237-7BF7-427C-9606-CDC8AC45376A}"/>
              </a:ext>
            </a:extLst>
          </p:cNvPr>
          <p:cNvSpPr>
            <a:spLocks noGrp="1"/>
          </p:cNvSpPr>
          <p:nvPr/>
        </p:nvSpPr>
        <p:spPr>
          <a:xfrm>
            <a:off x="4676775" y="3676650"/>
            <a:ext cx="228600" cy="228600"/>
          </a:xfrm>
          <a:prstGeom prst="rect">
            <a:avLst/>
          </a:prstGeom>
          <a:solidFill>
            <a:srgbClr val="8B5A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77DA073-0740-46A6-B8F5-F8634118A1F7}"/>
              </a:ext>
            </a:extLst>
          </p:cNvPr>
          <p:cNvSpPr>
            <a:spLocks noGrp="1"/>
          </p:cNvSpPr>
          <p:nvPr/>
        </p:nvSpPr>
        <p:spPr>
          <a:xfrm>
            <a:off x="4676775" y="36671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BD14A7-8F23-4002-A5FC-8E3BC23F5F4C}"/>
              </a:ext>
            </a:extLst>
          </p:cNvPr>
          <p:cNvSpPr>
            <a:spLocks noGrp="1"/>
          </p:cNvSpPr>
          <p:nvPr/>
        </p:nvSpPr>
        <p:spPr>
          <a:xfrm>
            <a:off x="5019675" y="36576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Open edit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85CF71-CFCD-4E54-90A7-A959FDE79FA7}"/>
              </a:ext>
            </a:extLst>
          </p:cNvPr>
          <p:cNvSpPr>
            <a:spLocks noGrp="1"/>
          </p:cNvSpPr>
          <p:nvPr/>
        </p:nvSpPr>
        <p:spPr>
          <a:xfrm>
            <a:off x="4676775" y="4076700"/>
            <a:ext cx="228600" cy="228600"/>
          </a:xfrm>
          <a:prstGeom prst="rect">
            <a:avLst/>
          </a:prstGeom>
          <a:solidFill>
            <a:srgbClr val="8B5A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707285-AA52-461B-9448-9A69AF7940AC}"/>
              </a:ext>
            </a:extLst>
          </p:cNvPr>
          <p:cNvSpPr>
            <a:spLocks noGrp="1"/>
          </p:cNvSpPr>
          <p:nvPr/>
        </p:nvSpPr>
        <p:spPr>
          <a:xfrm>
            <a:off x="4676775" y="40671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067E2E-28BD-4E7D-867C-FD1EE8879FAB}"/>
              </a:ext>
            </a:extLst>
          </p:cNvPr>
          <p:cNvSpPr>
            <a:spLocks noGrp="1"/>
          </p:cNvSpPr>
          <p:nvPr/>
        </p:nvSpPr>
        <p:spPr>
          <a:xfrm>
            <a:off x="5019675" y="40576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Check references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9D15F92-3AE5-41EE-A6D1-9336EC7F6F69}"/>
              </a:ext>
            </a:extLst>
          </p:cNvPr>
          <p:cNvSpPr>
            <a:spLocks noGrp="1"/>
          </p:cNvSpPr>
          <p:nvPr/>
        </p:nvSpPr>
        <p:spPr>
          <a:xfrm>
            <a:off x="4676775" y="4476750"/>
            <a:ext cx="228600" cy="228600"/>
          </a:xfrm>
          <a:prstGeom prst="rect">
            <a:avLst/>
          </a:prstGeom>
          <a:solidFill>
            <a:srgbClr val="8B5A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B60565-CC7D-46E7-A4E5-352D17907F07}"/>
              </a:ext>
            </a:extLst>
          </p:cNvPr>
          <p:cNvSpPr>
            <a:spLocks noGrp="1"/>
          </p:cNvSpPr>
          <p:nvPr/>
        </p:nvSpPr>
        <p:spPr>
          <a:xfrm>
            <a:off x="4676775" y="44672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C26AA3-9788-4154-9E18-7DA5F1CD29F9}"/>
              </a:ext>
            </a:extLst>
          </p:cNvPr>
          <p:cNvSpPr>
            <a:spLocks noGrp="1"/>
          </p:cNvSpPr>
          <p:nvPr/>
        </p:nvSpPr>
        <p:spPr>
          <a:xfrm>
            <a:off x="5019675" y="44577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Save changes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EA8BE3-481B-43A9-80E3-9A4543354D2F}"/>
              </a:ext>
            </a:extLst>
          </p:cNvPr>
          <p:cNvSpPr>
            <a:spLocks noGrp="1"/>
          </p:cNvSpPr>
          <p:nvPr/>
        </p:nvSpPr>
        <p:spPr>
          <a:xfrm>
            <a:off x="8162925" y="2190750"/>
            <a:ext cx="3333750" cy="2762250"/>
          </a:xfrm>
          <a:prstGeom prst="rect">
            <a:avLst/>
          </a:prstGeom>
          <a:solidFill>
            <a:srgbClr val="000000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29E34A0-1B5E-4C03-85C6-BDACB0080110}"/>
              </a:ext>
            </a:extLst>
          </p:cNvPr>
          <p:cNvSpPr>
            <a:spLocks noGrp="1"/>
          </p:cNvSpPr>
          <p:nvPr/>
        </p:nvSpPr>
        <p:spPr>
          <a:xfrm>
            <a:off x="8115300" y="2133600"/>
            <a:ext cx="333375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8A13EC-37B9-4AFB-A119-4E6ADABB71F2}"/>
              </a:ext>
            </a:extLst>
          </p:cNvPr>
          <p:cNvSpPr>
            <a:spLocks noGrp="1"/>
          </p:cNvSpPr>
          <p:nvPr/>
        </p:nvSpPr>
        <p:spPr>
          <a:xfrm>
            <a:off x="8343900" y="2362200"/>
            <a:ext cx="287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15F5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15F55"/>
                </a:solidFill>
                <a:latin typeface="Aptos"/>
                <a:ea typeface="Aptos"/>
                <a:cs typeface="Aptos"/>
              </a:rPr>
              <a:t>Subject Health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AA1D532-C322-4758-969F-4396F62DFCF9}"/>
              </a:ext>
            </a:extLst>
          </p:cNvPr>
          <p:cNvSpPr>
            <a:spLocks noGrp="1"/>
          </p:cNvSpPr>
          <p:nvPr/>
        </p:nvSpPr>
        <p:spPr>
          <a:xfrm>
            <a:off x="8362950" y="2876550"/>
            <a:ext cx="228600" cy="228600"/>
          </a:xfrm>
          <a:prstGeom prst="rect">
            <a:avLst/>
          </a:prstGeom>
          <a:solidFill>
            <a:srgbClr val="315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10F7ECB-617E-46B3-AF93-4B958040EC38}"/>
              </a:ext>
            </a:extLst>
          </p:cNvPr>
          <p:cNvSpPr>
            <a:spLocks noGrp="1"/>
          </p:cNvSpPr>
          <p:nvPr/>
        </p:nvSpPr>
        <p:spPr>
          <a:xfrm>
            <a:off x="8362950" y="2867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4AEB7B0-1640-4465-B516-974F5E5C2B56}"/>
              </a:ext>
            </a:extLst>
          </p:cNvPr>
          <p:cNvSpPr>
            <a:spLocks noGrp="1"/>
          </p:cNvSpPr>
          <p:nvPr/>
        </p:nvSpPr>
        <p:spPr>
          <a:xfrm>
            <a:off x="8705850" y="28575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Select subject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0A82135-E2E1-4D28-907E-07969A264764}"/>
              </a:ext>
            </a:extLst>
          </p:cNvPr>
          <p:cNvSpPr>
            <a:spLocks noGrp="1"/>
          </p:cNvSpPr>
          <p:nvPr/>
        </p:nvSpPr>
        <p:spPr>
          <a:xfrm>
            <a:off x="8362950" y="3276600"/>
            <a:ext cx="228600" cy="228600"/>
          </a:xfrm>
          <a:prstGeom prst="rect">
            <a:avLst/>
          </a:prstGeom>
          <a:solidFill>
            <a:srgbClr val="315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0C54882-649E-413F-A221-BE984BBCA5E8}"/>
              </a:ext>
            </a:extLst>
          </p:cNvPr>
          <p:cNvSpPr>
            <a:spLocks noGrp="1"/>
          </p:cNvSpPr>
          <p:nvPr/>
        </p:nvSpPr>
        <p:spPr>
          <a:xfrm>
            <a:off x="8362950" y="32670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2D9B5FC-CDB6-4DEE-81F9-4CF75AC83369}"/>
              </a:ext>
            </a:extLst>
          </p:cNvPr>
          <p:cNvSpPr>
            <a:spLocks noGrp="1"/>
          </p:cNvSpPr>
          <p:nvPr/>
        </p:nvSpPr>
        <p:spPr>
          <a:xfrm>
            <a:off x="8705850" y="32575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Review mapped schemes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F19FCFB-1C0A-4284-9200-EC2BE9464DB9}"/>
              </a:ext>
            </a:extLst>
          </p:cNvPr>
          <p:cNvSpPr>
            <a:spLocks noGrp="1"/>
          </p:cNvSpPr>
          <p:nvPr/>
        </p:nvSpPr>
        <p:spPr>
          <a:xfrm>
            <a:off x="8362950" y="3676650"/>
            <a:ext cx="228600" cy="228600"/>
          </a:xfrm>
          <a:prstGeom prst="rect">
            <a:avLst/>
          </a:prstGeom>
          <a:solidFill>
            <a:srgbClr val="315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CF20BE8-B865-407E-A6A6-7298C9DA8439}"/>
              </a:ext>
            </a:extLst>
          </p:cNvPr>
          <p:cNvSpPr>
            <a:spLocks noGrp="1"/>
          </p:cNvSpPr>
          <p:nvPr/>
        </p:nvSpPr>
        <p:spPr>
          <a:xfrm>
            <a:off x="8362950" y="36671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DEB42D4-B6D0-4124-AF8B-2C0C40C18E38}"/>
              </a:ext>
            </a:extLst>
          </p:cNvPr>
          <p:cNvSpPr>
            <a:spLocks noGrp="1"/>
          </p:cNvSpPr>
          <p:nvPr/>
        </p:nvSpPr>
        <p:spPr>
          <a:xfrm>
            <a:off x="8705850" y="36576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Check gaps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4ECE361-CFE4-4DCB-ADB2-C056BA1C84E5}"/>
              </a:ext>
            </a:extLst>
          </p:cNvPr>
          <p:cNvSpPr>
            <a:spLocks noGrp="1"/>
          </p:cNvSpPr>
          <p:nvPr/>
        </p:nvSpPr>
        <p:spPr>
          <a:xfrm>
            <a:off x="8362950" y="4076700"/>
            <a:ext cx="228600" cy="228600"/>
          </a:xfrm>
          <a:prstGeom prst="rect">
            <a:avLst/>
          </a:prstGeom>
          <a:solidFill>
            <a:srgbClr val="315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FE0034-EE28-40AF-BC06-79B46E7C4F45}"/>
              </a:ext>
            </a:extLst>
          </p:cNvPr>
          <p:cNvSpPr>
            <a:spLocks noGrp="1"/>
          </p:cNvSpPr>
          <p:nvPr/>
        </p:nvSpPr>
        <p:spPr>
          <a:xfrm>
            <a:off x="8362950" y="40671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B5C8B6E-9D11-473B-A427-19401B2E770F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Open items needing work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B32D283-DBA0-44FC-B27E-E807C9F1F78C}"/>
              </a:ext>
            </a:extLst>
          </p:cNvPr>
          <p:cNvSpPr>
            <a:spLocks noGrp="1"/>
          </p:cNvSpPr>
          <p:nvPr/>
        </p:nvSpPr>
        <p:spPr>
          <a:xfrm>
            <a:off x="8362950" y="4476750"/>
            <a:ext cx="228600" cy="228600"/>
          </a:xfrm>
          <a:prstGeom prst="rect">
            <a:avLst/>
          </a:prstGeom>
          <a:solidFill>
            <a:srgbClr val="315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D041BCC-9087-4430-B9FE-05349C69CDD2}"/>
              </a:ext>
            </a:extLst>
          </p:cNvPr>
          <p:cNvSpPr>
            <a:spLocks noGrp="1"/>
          </p:cNvSpPr>
          <p:nvPr/>
        </p:nvSpPr>
        <p:spPr>
          <a:xfrm>
            <a:off x="8362950" y="44672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A1B81FC-2EFA-416C-BE39-87676776BB18}"/>
              </a:ext>
            </a:extLst>
          </p:cNvPr>
          <p:cNvSpPr>
            <a:spLocks noGrp="1"/>
          </p:cNvSpPr>
          <p:nvPr/>
        </p:nvSpPr>
        <p:spPr>
          <a:xfrm>
            <a:off x="8705850" y="4457700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Agree next action</a:t>
            </a:r>
          </a:p>
        </p:txBody>
      </p:sp>
    </p:spTree>
    <p:extLst>
      <p:ext uri="{BB962C8B-B14F-4D97-AF65-F5344CB8AC3E}">
        <p14:creationId xmlns:p14="http://schemas.microsoft.com/office/powerpoint/2010/main" val="3204910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</Words>
  <Application>Microsoft Macintosh PowerPoint</Application>
  <DocSecurity>0</DocSecurity>
  <PresentationFormat>Widescreen</PresentationFormat>
  <Paragraphs>190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 Meredith (Caerleon Comprehensive School)</cp:lastModifiedBy>
  <cp:revision>1</cp:revision>
  <dcterms:created xsi:type="dcterms:W3CDTF">2026-06-06T09:59:44Z</dcterms:created>
  <dcterms:modified xsi:type="dcterms:W3CDTF">2026-06-06T15:50:55Z</dcterms:modified>
</cp:coreProperties>
</file>